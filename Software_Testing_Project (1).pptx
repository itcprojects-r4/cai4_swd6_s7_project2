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magento2demo.firebearstudio.com" TargetMode="External"/><Relationship Id="rId6" Type="http://schemas.openxmlformats.org/officeDocument/2006/relationships/hyperlink" Target="https://practice.expandtesting.com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7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image" Target="../media/image-1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jpeg"/><Relationship Id="rId4" Type="http://schemas.openxmlformats.org/officeDocument/2006/relationships/image" Target="../media/image-12-4.png"/><Relationship Id="rId5" Type="http://schemas.openxmlformats.org/officeDocument/2006/relationships/image" Target="../media/image-12-5.jpe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566928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Project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1554480" y="122529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 •  Automation Testing  •  API Testing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457200" y="178308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94944" y="2025396"/>
            <a:ext cx="566928" cy="566928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62556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192938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463040" y="22128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1000" dirty="0"/>
          </a:p>
        </p:txBody>
      </p:sp>
      <p:sp>
        <p:nvSpPr>
          <p:cNvPr id="11" name="Text 6">
            <a:hlinkClick r:id="rId4" tooltip=""/>
          </p:cNvPr>
          <p:cNvSpPr/>
          <p:nvPr/>
        </p:nvSpPr>
        <p:spPr>
          <a:xfrm>
            <a:off x="1463040" y="2423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magento2demo.firebearstudio.com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709160" y="1783080"/>
            <a:ext cx="3977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946904" y="2025396"/>
            <a:ext cx="566928" cy="566928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21625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15000" y="192938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API Testing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715000" y="22128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1000" dirty="0"/>
          </a:p>
        </p:txBody>
      </p:sp>
      <p:sp>
        <p:nvSpPr>
          <p:cNvPr id="17" name="Text 11">
            <a:hlinkClick r:id="rId6" tooltip=""/>
          </p:cNvPr>
          <p:cNvSpPr/>
          <p:nvPr/>
        </p:nvSpPr>
        <p:spPr>
          <a:xfrm>
            <a:off x="5715000" y="24231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practice.expandtesting.com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57200" y="3035808"/>
            <a:ext cx="4800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13232" y="3236976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333756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43584" y="3218688"/>
            <a:ext cx="3593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68096" y="3694176"/>
            <a:ext cx="42519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Mohamed Mahmoud Abdel Samad</a:t>
            </a:r>
            <a:pPr algn="l"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(Team Leader)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Mohamed Islam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Ahmed Abdel Aal Ahmed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Yehia Samy Mohamed Hamed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Medhat Abdelaief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Mohamed Mahmoud Aleem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532120" y="3035808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788152" y="3328416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8736" y="3429000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318504" y="326440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318504" y="349300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Mahmoud Maher Raslan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5843016" y="4114800"/>
            <a:ext cx="2807208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788152" y="4279392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8736" y="4379976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18504" y="4215384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318504" y="444398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365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457200" y="1280160"/>
            <a:ext cx="8229600" cy="676656"/>
          </a:xfrm>
          <a:prstGeom prst="roundRect">
            <a:avLst>
              <a:gd name="adj" fmla="val 12162"/>
            </a:avLst>
          </a:prstGeom>
          <a:solidFill>
            <a:srgbClr val="EEF3F8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13232" y="1280160"/>
            <a:ext cx="7717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evaluates web applications through Manual, Automation, and API Testing to ensure quality, functionality, and reliability.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57200" y="210312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76656" y="2267712"/>
            <a:ext cx="365760" cy="365760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359152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70432" y="22311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Websites?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13232" y="2688336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Magento 2 Demo</a:t>
            </a:r>
            <a:pPr algn="l"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chosen for Manual Testing for its realistic e-commerce environment.</a:t>
            </a:r>
            <a:endParaRPr lang="en-US" sz="1000" dirty="0"/>
          </a:p>
          <a:p>
            <a:pPr algn="l"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Testing</a:t>
            </a:r>
            <a:pPr algn="l"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used for Automation &amp; API Testing after technical limits on the first site.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709160" y="210312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928616" y="2267712"/>
            <a:ext cx="365760" cy="365760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2359152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22392" y="22311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277612" y="2688336"/>
            <a:ext cx="402336" cy="402336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196" y="278892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92040" y="3136392"/>
            <a:ext cx="126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6451092" y="2688336"/>
            <a:ext cx="402336" cy="402336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676" y="278892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65520" y="3136392"/>
            <a:ext cx="126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7624572" y="2688336"/>
            <a:ext cx="402336" cy="402336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5156" y="278892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239000" y="3136392"/>
            <a:ext cx="126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457200" y="354787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676656" y="3712464"/>
            <a:ext cx="365760" cy="365760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3803904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170432" y="36758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50" dirty="0"/>
          </a:p>
        </p:txBody>
      </p:sp>
      <p:sp>
        <p:nvSpPr>
          <p:cNvPr id="29" name="Shape 19"/>
          <p:cNvSpPr/>
          <p:nvPr/>
        </p:nvSpPr>
        <p:spPr>
          <a:xfrm>
            <a:off x="1025652" y="4133088"/>
            <a:ext cx="402336" cy="402336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236" y="4233672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40080" y="4581144"/>
            <a:ext cx="126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2199132" y="4133088"/>
            <a:ext cx="402336" cy="402336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9716" y="4233672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813560" y="4581144"/>
            <a:ext cx="126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3372612" y="4133088"/>
            <a:ext cx="402336" cy="402336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3196" y="4233672"/>
            <a:ext cx="201168" cy="20116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2987040" y="4581144"/>
            <a:ext cx="126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50" dirty="0"/>
          </a:p>
        </p:txBody>
      </p:sp>
      <p:sp>
        <p:nvSpPr>
          <p:cNvPr id="38" name="Shape 25"/>
          <p:cNvSpPr/>
          <p:nvPr/>
        </p:nvSpPr>
        <p:spPr>
          <a:xfrm>
            <a:off x="4709160" y="354787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39" name="Shape 26"/>
          <p:cNvSpPr/>
          <p:nvPr/>
        </p:nvSpPr>
        <p:spPr>
          <a:xfrm>
            <a:off x="4928616" y="3712464"/>
            <a:ext cx="365760" cy="365760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0056" y="3803904"/>
            <a:ext cx="182880" cy="18288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422392" y="36758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50" dirty="0"/>
          </a:p>
        </p:txBody>
      </p:sp>
      <p:sp>
        <p:nvSpPr>
          <p:cNvPr id="42" name="Text 28"/>
          <p:cNvSpPr/>
          <p:nvPr/>
        </p:nvSpPr>
        <p:spPr>
          <a:xfrm>
            <a:off x="4965192" y="4114800"/>
            <a:ext cx="3483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application is stable and ready for release.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report software defects.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critical features.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software quality.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365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457200" y="1280160"/>
            <a:ext cx="1933956" cy="3584448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1195578" y="1463040"/>
            <a:ext cx="457200" cy="457200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1581912"/>
            <a:ext cx="219456" cy="2194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956816"/>
            <a:ext cx="17510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40080" y="2523744"/>
            <a:ext cx="16047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Testers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2555748" y="1280160"/>
            <a:ext cx="1933956" cy="3584448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94126" y="1463040"/>
            <a:ext cx="457200" cy="457200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998" y="158191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47188" y="1956816"/>
            <a:ext cx="17510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Scope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2647188" y="2340864"/>
            <a:ext cx="1751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Magento 2 Demo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2738628" y="2523744"/>
            <a:ext cx="16047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Process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654296" y="1280160"/>
            <a:ext cx="1933956" cy="3584448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392674" y="1463040"/>
            <a:ext cx="457200" cy="457200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546" y="1581912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45736" y="1956816"/>
            <a:ext cx="17510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 Scope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4745736" y="2340864"/>
            <a:ext cx="17510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Testing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837176" y="2523744"/>
            <a:ext cx="16047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(Login)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Contact Us Page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/ Password Reset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Inputs Handling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Actions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Checker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6752844" y="1280160"/>
            <a:ext cx="1933956" cy="3584448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491222" y="1463040"/>
            <a:ext cx="457200" cy="457200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094" y="1581912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44284" y="1956816"/>
            <a:ext cx="17510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Scope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6935724" y="2523744"/>
            <a:ext cx="16047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API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API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User Profile API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User Profile API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API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 API</a:t>
            </a:r>
            <a:endParaRPr lang="en-US" sz="900" dirty="0"/>
          </a:p>
          <a:p>
            <a:pPr algn="l" marL="152400" indent="-1524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Note API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3657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 &amp; Testing Strategy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457200" y="1234440"/>
            <a:ext cx="39776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713232" y="1435608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536192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3584" y="1399032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Model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731520" y="194767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5F0EC"/>
          </a:solidFill>
          <a:ln/>
        </p:spPr>
      </p:sp>
      <p:sp>
        <p:nvSpPr>
          <p:cNvPr id="10" name="Text 5"/>
          <p:cNvSpPr/>
          <p:nvPr/>
        </p:nvSpPr>
        <p:spPr>
          <a:xfrm>
            <a:off x="731520" y="19476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2249424" y="2752344"/>
            <a:ext cx="0" cy="-41148"/>
          </a:xfrm>
          <a:prstGeom prst="line">
            <a:avLst/>
          </a:prstGeom>
          <a:noFill/>
          <a:ln w="15875">
            <a:solidFill>
              <a:srgbClr val="BFCAD6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236726" y="2711196"/>
            <a:ext cx="1012698" cy="0"/>
          </a:xfrm>
          <a:prstGeom prst="line">
            <a:avLst/>
          </a:prstGeom>
          <a:noFill/>
          <a:ln w="15875">
            <a:solidFill>
              <a:srgbClr val="BFCAD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718054" y="3022092"/>
            <a:ext cx="0" cy="-41148"/>
          </a:xfrm>
          <a:prstGeom prst="line">
            <a:avLst/>
          </a:prstGeom>
          <a:noFill/>
          <a:ln w="15875">
            <a:solidFill>
              <a:srgbClr val="BFCAD6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705356" y="2980944"/>
            <a:ext cx="1012698" cy="0"/>
          </a:xfrm>
          <a:prstGeom prst="line">
            <a:avLst/>
          </a:prstGeom>
          <a:noFill/>
          <a:ln w="15875">
            <a:solidFill>
              <a:srgbClr val="BFCAD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186684" y="3291840"/>
            <a:ext cx="0" cy="-41148"/>
          </a:xfrm>
          <a:prstGeom prst="line">
            <a:avLst/>
          </a:prstGeom>
          <a:noFill/>
          <a:ln w="15875">
            <a:solidFill>
              <a:srgbClr val="BFCAD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173986" y="3250692"/>
            <a:ext cx="1012698" cy="0"/>
          </a:xfrm>
          <a:prstGeom prst="line">
            <a:avLst/>
          </a:prstGeom>
          <a:noFill/>
          <a:ln w="15875">
            <a:solidFill>
              <a:srgbClr val="BFCAD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655314" y="3561588"/>
            <a:ext cx="0" cy="-41148"/>
          </a:xfrm>
          <a:prstGeom prst="line">
            <a:avLst/>
          </a:prstGeom>
          <a:noFill/>
          <a:ln w="15875">
            <a:solidFill>
              <a:srgbClr val="BFCAD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642616" y="3520440"/>
            <a:ext cx="1012698" cy="0"/>
          </a:xfrm>
          <a:prstGeom prst="line">
            <a:avLst/>
          </a:prstGeom>
          <a:noFill/>
          <a:ln w="15875">
            <a:solidFill>
              <a:srgbClr val="BFCAD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8096" y="2441448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68096" y="244144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236726" y="2711196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236726" y="2711196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1705356" y="2980944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1705356" y="298094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173986" y="3250692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2173986" y="3250692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642616" y="3520440"/>
            <a:ext cx="1481328" cy="310896"/>
          </a:xfrm>
          <a:prstGeom prst="roundRect">
            <a:avLst>
              <a:gd name="adj" fmla="val 17647"/>
            </a:avLst>
          </a:prstGeom>
          <a:solidFill>
            <a:srgbClr val="2E7D6B"/>
          </a:solidFill>
          <a:ln/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2642616" y="352044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31520" y="3977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Waterfall?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731520" y="42519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followed a clear, sequential testing process — making Waterfall well suited for planning, execution, and documentation.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709160" y="1234440"/>
            <a:ext cx="39776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965192" y="1435608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536192"/>
            <a:ext cx="182880" cy="1828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95544" y="1399032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5020056" y="2075688"/>
            <a:ext cx="548640" cy="548640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2212848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769864" y="2039112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769864" y="231343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using Microsoft Excel to validate the application's functionality.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020056" y="2880360"/>
            <a:ext cx="3355848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5020056" y="2990088"/>
            <a:ext cx="548640" cy="548640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3127248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769864" y="2953512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5769864" y="322783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using Selenium WebDriver to automate key test scenarios.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5020056" y="3794760"/>
            <a:ext cx="3355848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020056" y="3904488"/>
            <a:ext cx="548640" cy="548640"/>
          </a:xfrm>
          <a:prstGeom prst="ellipse">
            <a:avLst/>
          </a:prstGeom>
          <a:solidFill>
            <a:srgbClr val="E9EFF5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216" y="4041648"/>
            <a:ext cx="274320" cy="27432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769864" y="3867912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5769864" y="414223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using Postman to validate API functionality, requests, and responses.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365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457200" y="1188720"/>
            <a:ext cx="397764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713232" y="1389888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490472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3584" y="1353312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731520" y="1865376"/>
            <a:ext cx="3447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core functionalities of the selected web applications through Manual Testing, Automation Testing, and API Testing.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4709160" y="1188720"/>
            <a:ext cx="397764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965192" y="1389888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49047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95544" y="1353312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4983480" y="1865376"/>
            <a:ext cx="3447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application functionality.</a:t>
            </a:r>
            <a:endParaRPr lang="en-US" sz="1150" dirty="0"/>
          </a:p>
          <a:p>
            <a:pPr algn="l" marL="165100" indent="-1651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report software defects.</a:t>
            </a:r>
            <a:endParaRPr lang="en-US" sz="1150" dirty="0"/>
          </a:p>
          <a:p>
            <a:pPr algn="l" marL="165100" indent="-1651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software quality and reliability.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57200" y="3108960"/>
            <a:ext cx="397764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13232" y="3310128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410712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43584" y="3273552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5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794760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78992" y="37673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0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4006901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78992" y="3979469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0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" y="4219042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78992" y="419161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0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4431182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078992" y="440375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</a:t>
            </a:r>
            <a:endParaRPr lang="en-US" sz="10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" y="4643323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078992" y="4615891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050" dirty="0"/>
          </a:p>
        </p:txBody>
      </p:sp>
      <p:sp>
        <p:nvSpPr>
          <p:cNvPr id="29" name="Shape 17"/>
          <p:cNvSpPr/>
          <p:nvPr/>
        </p:nvSpPr>
        <p:spPr>
          <a:xfrm>
            <a:off x="4709160" y="3108960"/>
            <a:ext cx="397764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4965192" y="3310128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5776" y="3410712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495544" y="3273552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50" dirty="0"/>
          </a:p>
        </p:txBody>
      </p:sp>
      <p:sp>
        <p:nvSpPr>
          <p:cNvPr id="33" name="Shape 20"/>
          <p:cNvSpPr/>
          <p:nvPr/>
        </p:nvSpPr>
        <p:spPr>
          <a:xfrm>
            <a:off x="5020056" y="3785616"/>
            <a:ext cx="182880" cy="1828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4" name="Text 21"/>
          <p:cNvSpPr/>
          <p:nvPr/>
        </p:nvSpPr>
        <p:spPr>
          <a:xfrm>
            <a:off x="5020056" y="3785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22"/>
          <p:cNvSpPr/>
          <p:nvPr/>
        </p:nvSpPr>
        <p:spPr>
          <a:xfrm>
            <a:off x="5330952" y="37673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1050" dirty="0"/>
          </a:p>
        </p:txBody>
      </p:sp>
      <p:sp>
        <p:nvSpPr>
          <p:cNvPr id="36" name="Shape 23"/>
          <p:cNvSpPr/>
          <p:nvPr/>
        </p:nvSpPr>
        <p:spPr>
          <a:xfrm>
            <a:off x="5020056" y="3997757"/>
            <a:ext cx="182880" cy="1828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37" name="Text 24"/>
          <p:cNvSpPr/>
          <p:nvPr/>
        </p:nvSpPr>
        <p:spPr>
          <a:xfrm>
            <a:off x="5020056" y="399775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25"/>
          <p:cNvSpPr/>
          <p:nvPr/>
        </p:nvSpPr>
        <p:spPr>
          <a:xfrm>
            <a:off x="5330952" y="3979469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Design</a:t>
            </a:r>
            <a:endParaRPr lang="en-US" sz="1050" dirty="0"/>
          </a:p>
        </p:txBody>
      </p:sp>
      <p:sp>
        <p:nvSpPr>
          <p:cNvPr id="39" name="Shape 26"/>
          <p:cNvSpPr/>
          <p:nvPr/>
        </p:nvSpPr>
        <p:spPr>
          <a:xfrm>
            <a:off x="5020056" y="4209898"/>
            <a:ext cx="182880" cy="1828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40" name="Text 27"/>
          <p:cNvSpPr/>
          <p:nvPr/>
        </p:nvSpPr>
        <p:spPr>
          <a:xfrm>
            <a:off x="5020056" y="42098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28"/>
          <p:cNvSpPr/>
          <p:nvPr/>
        </p:nvSpPr>
        <p:spPr>
          <a:xfrm>
            <a:off x="5330952" y="419161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050" dirty="0"/>
          </a:p>
        </p:txBody>
      </p:sp>
      <p:sp>
        <p:nvSpPr>
          <p:cNvPr id="42" name="Shape 29"/>
          <p:cNvSpPr/>
          <p:nvPr/>
        </p:nvSpPr>
        <p:spPr>
          <a:xfrm>
            <a:off x="5020056" y="4422038"/>
            <a:ext cx="182880" cy="1828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43" name="Text 30"/>
          <p:cNvSpPr/>
          <p:nvPr/>
        </p:nvSpPr>
        <p:spPr>
          <a:xfrm>
            <a:off x="5020056" y="442203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31"/>
          <p:cNvSpPr/>
          <p:nvPr/>
        </p:nvSpPr>
        <p:spPr>
          <a:xfrm>
            <a:off x="5330952" y="440375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</a:t>
            </a:r>
            <a:endParaRPr lang="en-US" sz="1050" dirty="0"/>
          </a:p>
        </p:txBody>
      </p:sp>
      <p:sp>
        <p:nvSpPr>
          <p:cNvPr id="45" name="Shape 32"/>
          <p:cNvSpPr/>
          <p:nvPr/>
        </p:nvSpPr>
        <p:spPr>
          <a:xfrm>
            <a:off x="5020056" y="4634179"/>
            <a:ext cx="182880" cy="182880"/>
          </a:xfrm>
          <a:prstGeom prst="ellipse">
            <a:avLst/>
          </a:prstGeom>
          <a:solidFill>
            <a:srgbClr val="2E7D6B"/>
          </a:solidFill>
          <a:ln/>
        </p:spPr>
      </p:sp>
      <p:sp>
        <p:nvSpPr>
          <p:cNvPr id="46" name="Text 33"/>
          <p:cNvSpPr/>
          <p:nvPr/>
        </p:nvSpPr>
        <p:spPr>
          <a:xfrm>
            <a:off x="5020056" y="46341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5330952" y="4615891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384048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554480" y="133502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Cases   </a:t>
            </a:r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the manual testing performed on the Magento 2 Demo e-commerce site — illustrating our approach, expected outcomes, actual results, and execution status.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393192" y="2075688"/>
            <a:ext cx="8357616" cy="2001786"/>
          </a:xfrm>
          <a:prstGeom prst="roundRect">
            <a:avLst>
              <a:gd name="adj" fmla="val 1827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  <a:effectLst>
            <a:outerShdw sx="100000" sy="100000" kx="0" ky="0" algn="bl" rotWithShape="0" blurRad="152400" dist="50800" dir="5400000">
              <a:srgbClr val="7E8B9A">
                <a:alpha val="28000"/>
              </a:srgbClr>
            </a:outerShdw>
          </a:effectLst>
        </p:spPr>
      </p:sp>
      <p:pic>
        <p:nvPicPr>
          <p:cNvPr id="7" name="Image 2" descr="testcases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9696"/>
            <a:ext cx="8229600" cy="18737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423292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 ·  Forgot Password module  ·  Magento 2 Demo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347472"/>
            <a:ext cx="6217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Summary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1554480" y="8961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Overview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371600" y="122529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 below presents the results of the manual testing phase — the total executed test cases and their distribution across Passed, Failed, and Blocked outcomes, giving a clear view of overall coverage and status.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1097646" y="1874520"/>
            <a:ext cx="6948708" cy="3008376"/>
          </a:xfrm>
          <a:prstGeom prst="roundRect">
            <a:avLst>
              <a:gd name="adj" fmla="val 1216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  <a:effectLst>
            <a:outerShdw sx="100000" sy="100000" kx="0" ky="0" algn="bl" rotWithShape="0" blurRad="152400" dist="50800" dir="5400000">
              <a:srgbClr val="7E8B9A">
                <a:alpha val="28000"/>
              </a:srgbClr>
            </a:outerShdw>
          </a:effectLst>
        </p:spPr>
      </p:sp>
      <p:pic>
        <p:nvPicPr>
          <p:cNvPr id="8" name="Image 2" descr="execsummary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654" y="1938528"/>
            <a:ext cx="682069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365760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554480" y="9144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Overview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371600" y="124358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selection of defects identified during the manual testing phase — each documented, analyzed, and classified by severity and status to support effective tracking and resolution.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93192" y="2075688"/>
            <a:ext cx="8357616" cy="2431291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  <a:effectLst>
            <a:outerShdw sx="100000" sy="100000" kx="0" ky="0" algn="bl" rotWithShape="0" blurRad="152400" dist="50800" dir="5400000">
              <a:srgbClr val="7E8B9A">
                <a:alpha val="28000"/>
              </a:srgbClr>
            </a:outerShdw>
          </a:effectLst>
        </p:spPr>
      </p:sp>
      <p:pic>
        <p:nvPicPr>
          <p:cNvPr id="8" name="Image 2" descr="bugreport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9696"/>
            <a:ext cx="8229600" cy="23032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464413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 ·  Defect Log  ·  Magento 2 Demo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365760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554480" y="9144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463040" y="126187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tools were used throughout the project to perform Manual, Automation, and API Testing.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1993392"/>
            <a:ext cx="256032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257300" y="2286000"/>
            <a:ext cx="960120" cy="960120"/>
          </a:xfrm>
          <a:prstGeom prst="ellipse">
            <a:avLst/>
          </a:prstGeom>
          <a:solidFill>
            <a:srgbClr val="E4F1E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88" y="2532888"/>
            <a:ext cx="466344" cy="4663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1417320" y="3785616"/>
            <a:ext cx="640080" cy="0"/>
          </a:xfrm>
          <a:prstGeom prst="line">
            <a:avLst/>
          </a:prstGeom>
          <a:noFill/>
          <a:ln w="19050">
            <a:solidFill>
              <a:srgbClr val="D7E0E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080" y="3877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Documentation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291840" y="1993392"/>
            <a:ext cx="256032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091940" y="2286000"/>
            <a:ext cx="960120" cy="960120"/>
          </a:xfrm>
          <a:prstGeom prst="ellipse">
            <a:avLst/>
          </a:prstGeom>
          <a:solidFill>
            <a:srgbClr val="E9F4E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2532888"/>
            <a:ext cx="466344" cy="4663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290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4251960" y="3785616"/>
            <a:ext cx="640080" cy="0"/>
          </a:xfrm>
          <a:prstGeom prst="line">
            <a:avLst/>
          </a:prstGeom>
          <a:noFill/>
          <a:ln w="19050">
            <a:solidFill>
              <a:srgbClr val="D7E0E8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474720" y="3877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126480" y="1993392"/>
            <a:ext cx="2560320" cy="2450592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926580" y="2286000"/>
            <a:ext cx="960120" cy="960120"/>
          </a:xfrm>
          <a:prstGeom prst="ellipse">
            <a:avLst/>
          </a:prstGeom>
          <a:solidFill>
            <a:srgbClr val="FDEBE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468" y="2532888"/>
            <a:ext cx="466344" cy="4663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6364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7086600" y="3785616"/>
            <a:ext cx="640080" cy="0"/>
          </a:xfrm>
          <a:prstGeom prst="line">
            <a:avLst/>
          </a:prstGeom>
          <a:noFill/>
          <a:ln w="19050">
            <a:solidFill>
              <a:srgbClr val="D7E0E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309360" y="3877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365760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4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5" name="Shape 1"/>
          <p:cNvSpPr/>
          <p:nvPr/>
        </p:nvSpPr>
        <p:spPr>
          <a:xfrm>
            <a:off x="457200" y="1170432"/>
            <a:ext cx="397764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713232" y="1371600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472184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3584" y="1335024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731520" y="1828800"/>
            <a:ext cx="34472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site (Magento 2 Demo) suited Manual Testing, but during the Automation and API phases it lacked the functionality and product availability needed for the planned scenarios — so we had to revise our approach and choose a more suitable platform.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709160" y="1170432"/>
            <a:ext cx="397764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4965192" y="1371600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472184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95544" y="1335024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4983480" y="1828800"/>
            <a:ext cx="34472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from Magento 2 Demo to Expand Testing to complete the Automation &amp; API Testing phases.</a:t>
            </a:r>
            <a:endParaRPr lang="en-US" sz="1050" dirty="0"/>
          </a:p>
          <a:p>
            <a:pPr algn="l" marL="165100" indent="-1651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more reliable, stable Selenium locators to improve test stability and execution.</a:t>
            </a:r>
            <a:endParaRPr lang="en-US" sz="1050" dirty="0"/>
          </a:p>
          <a:p>
            <a:pPr algn="l" marL="165100" indent="-1651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API documentation and refined requests for accurate validation and successful testing.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57200" y="3529584"/>
            <a:ext cx="8229600" cy="1225296"/>
          </a:xfrm>
          <a:prstGeom prst="roundRect">
            <a:avLst>
              <a:gd name="adj" fmla="val 6716"/>
            </a:avLst>
          </a:prstGeom>
          <a:solidFill>
            <a:srgbClr val="E9F2EE"/>
          </a:solidFill>
          <a:ln w="12700">
            <a:solidFill>
              <a:srgbClr val="CFE4D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7200" y="3529584"/>
            <a:ext cx="109728" cy="1225296"/>
          </a:xfrm>
          <a:prstGeom prst="roundRect">
            <a:avLst>
              <a:gd name="adj" fmla="val 41667"/>
            </a:avLst>
          </a:prstGeom>
          <a:solidFill>
            <a:srgbClr val="2E7D6B"/>
          </a:solidFill>
          <a:ln/>
        </p:spPr>
      </p:sp>
      <p:sp>
        <p:nvSpPr>
          <p:cNvPr id="17" name="Shape 11"/>
          <p:cNvSpPr/>
          <p:nvPr/>
        </p:nvSpPr>
        <p:spPr>
          <a:xfrm>
            <a:off x="749808" y="37124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81304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98448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Challenge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786384" y="41148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challenge was adapting the test plan after discovering the first website's limitations. By selecting a more suitable platform and refining our approach, we successfully completed all project objectives.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365760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457200" y="1170432"/>
            <a:ext cx="4754880" cy="362102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713232" y="1371600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472184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3584" y="1335024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Conclusion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731520" y="1828800"/>
            <a:ext cx="4224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completed successfully, with all planned objectives achieved. Manual, Automation, and API Testing evaluated the quality and functionality of the selected web applications.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768096" y="2798064"/>
            <a:ext cx="219456" cy="219456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" y="2848356"/>
            <a:ext cx="118872" cy="1188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33856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verified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768096" y="3163824"/>
            <a:ext cx="219456" cy="219456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3214116"/>
            <a:ext cx="118872" cy="1188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33856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identified and documented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768096" y="3529584"/>
            <a:ext cx="219456" cy="219456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" y="3579876"/>
            <a:ext cx="118872" cy="11887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33856" y="3493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confirmed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768096" y="3895344"/>
            <a:ext cx="219456" cy="219456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" y="3945636"/>
            <a:ext cx="118872" cy="11887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133856" y="3858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ready for release</a:t>
            </a:r>
            <a:endParaRPr lang="en-US" sz="1150" dirty="0"/>
          </a:p>
        </p:txBody>
      </p:sp>
      <p:sp>
        <p:nvSpPr>
          <p:cNvPr id="22" name="Shape 13"/>
          <p:cNvSpPr/>
          <p:nvPr/>
        </p:nvSpPr>
        <p:spPr>
          <a:xfrm>
            <a:off x="5486400" y="1170432"/>
            <a:ext cx="3200400" cy="3621024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5742432" y="1371600"/>
            <a:ext cx="384048" cy="384048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3016" y="1472184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272784" y="133502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550" dirty="0"/>
          </a:p>
        </p:txBody>
      </p:sp>
      <p:sp>
        <p:nvSpPr>
          <p:cNvPr id="26" name="Text 16"/>
          <p:cNvSpPr/>
          <p:nvPr/>
        </p:nvSpPr>
        <p:spPr>
          <a:xfrm>
            <a:off x="5779008" y="1956816"/>
            <a:ext cx="265176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Automation Testing coverage.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Performance Testing.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Security Testing.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2C4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API test coverage for additional scenarios.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4480" y="365760"/>
            <a:ext cx="6035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554480" y="9144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371600" y="124358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showcases the manual testing process on the Magento 2 Demo e-commerce site — executing test cases, validating core functionality, and documenting results to highlight the project's practical implementation.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2194560"/>
            <a:ext cx="3931920" cy="215798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  <a:effectLst>
            <a:outerShdw sx="100000" sy="100000" kx="0" ky="0" algn="bl" rotWithShape="0" blurRad="152400" dist="50800" dir="5400000">
              <a:srgbClr val="7E8B9A">
                <a:alpha val="28000"/>
              </a:srgbClr>
            </a:outerShdw>
          </a:effectLst>
        </p:spPr>
      </p:sp>
      <p:pic>
        <p:nvPicPr>
          <p:cNvPr id="8" name="Image 2" descr="demo1.jpeg">    </p:cNvPr>
          <p:cNvPicPr>
            <a:picLocks noChangeAspect="1"/>
          </p:cNvPicPr>
          <p:nvPr/>
        </p:nvPicPr>
        <p:blipFill>
          <a:blip r:embed="rId3"/>
          <a:srcRect l="-44091" r="-44091" t="0" b="0"/>
          <a:stretch/>
        </p:blipFill>
        <p:spPr>
          <a:xfrm>
            <a:off x="530352" y="2267712"/>
            <a:ext cx="3785616" cy="20116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029968" y="2880360"/>
            <a:ext cx="786384" cy="78638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3414F">
                <a:alpha val="3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2066544" y="2916936"/>
            <a:ext cx="713232" cy="713232"/>
          </a:xfrm>
          <a:prstGeom prst="ellipse">
            <a:avLst/>
          </a:prstGeom>
          <a:solidFill>
            <a:srgbClr val="2E7D6B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127248"/>
            <a:ext cx="310896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4498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Execution  ·  Google Sheets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4754880" y="2194560"/>
            <a:ext cx="3931920" cy="2157984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C9D4E0"/>
            </a:solidFill>
            <a:prstDash val="solid"/>
          </a:ln>
          <a:effectLst>
            <a:outerShdw sx="100000" sy="100000" kx="0" ky="0" algn="bl" rotWithShape="0" blurRad="152400" dist="50800" dir="5400000">
              <a:srgbClr val="7E8B9A">
                <a:alpha val="28000"/>
              </a:srgbClr>
            </a:outerShdw>
          </a:effectLst>
        </p:spPr>
      </p:sp>
      <p:pic>
        <p:nvPicPr>
          <p:cNvPr id="14" name="Image 4" descr="demo2.jpeg">    </p:cNvPr>
          <p:cNvPicPr>
            <a:picLocks noChangeAspect="1"/>
          </p:cNvPicPr>
          <p:nvPr/>
        </p:nvPicPr>
        <p:blipFill>
          <a:blip r:embed="rId5"/>
          <a:srcRect l="-44091" r="-44091" t="0" b="0"/>
          <a:stretch/>
        </p:blipFill>
        <p:spPr>
          <a:xfrm>
            <a:off x="4828032" y="2267712"/>
            <a:ext cx="3785616" cy="201168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6327648" y="2880360"/>
            <a:ext cx="786384" cy="78638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3414F">
                <a:alpha val="35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6364224" y="2916936"/>
            <a:ext cx="713232" cy="713232"/>
          </a:xfrm>
          <a:prstGeom prst="ellipse">
            <a:avLst/>
          </a:prstGeom>
          <a:solidFill>
            <a:srgbClr val="2E7D6B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127248"/>
            <a:ext cx="310896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754880" y="4498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Magento 2 Demo  ·  Customer Login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row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256032"/>
            <a:ext cx="960120" cy="960120"/>
          </a:xfrm>
          <a:prstGeom prst="rect">
            <a:avLst/>
          </a:prstGeom>
        </p:spPr>
      </p:pic>
      <p:pic>
        <p:nvPicPr>
          <p:cNvPr id="3" name="Image 1" descr="logo_it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9832" y="256032"/>
            <a:ext cx="960120" cy="960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15384" y="1078992"/>
            <a:ext cx="713232" cy="713232"/>
          </a:xfrm>
          <a:prstGeom prst="ellipse">
            <a:avLst/>
          </a:prstGeom>
          <a:solidFill>
            <a:srgbClr val="E5F0EC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280160"/>
            <a:ext cx="347472" cy="31089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71600" y="1865376"/>
            <a:ext cx="6400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6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4160520" y="2706624"/>
            <a:ext cx="822960" cy="0"/>
          </a:xfrm>
          <a:prstGeom prst="line">
            <a:avLst/>
          </a:prstGeom>
          <a:noFill/>
          <a:ln w="31750">
            <a:solidFill>
              <a:srgbClr val="2E7D6B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371600" y="283464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time, attention, and valuable evaluation.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691640" y="32004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sincerely appreciate the opportunity to present our Software Testing project, and hope our work reflects our technical knowledge, teamwork, and commitment to software quality.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2011680" y="3931920"/>
            <a:ext cx="5120640" cy="841248"/>
          </a:xfrm>
          <a:prstGeom prst="roundRect">
            <a:avLst>
              <a:gd name="adj" fmla="val 50000"/>
            </a:avLst>
          </a:prstGeom>
          <a:solidFill>
            <a:srgbClr val="E9F2EE"/>
          </a:solidFill>
          <a:ln w="12700">
            <a:solidFill>
              <a:srgbClr val="CFE4D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5">
                <a:alpha val="2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395728" y="412394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425196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017520" y="40416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be delighted to answer any questions.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Project</dc:title>
  <dc:subject>PptxGenJS Presentation</dc:subject>
  <dc:creator>Software Testing Team</dc:creator>
  <cp:lastModifiedBy>Software Testing Team</cp:lastModifiedBy>
  <cp:revision>1</cp:revision>
  <dcterms:created xsi:type="dcterms:W3CDTF">2026-06-30T11:26:56Z</dcterms:created>
  <dcterms:modified xsi:type="dcterms:W3CDTF">2026-06-30T11:26:56Z</dcterms:modified>
</cp:coreProperties>
</file>